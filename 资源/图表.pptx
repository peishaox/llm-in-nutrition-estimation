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5D8B"/>
    <a:srgbClr val="E8DEEC"/>
    <a:srgbClr val="6C8657"/>
    <a:srgbClr val="E0EBD6"/>
    <a:srgbClr val="65728B"/>
    <a:srgbClr val="DBE7F2"/>
    <a:srgbClr val="FDEECC"/>
    <a:srgbClr val="684475"/>
    <a:srgbClr val="627E4F"/>
    <a:srgbClr val="697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66.xml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530985" y="2122170"/>
            <a:ext cx="9742170" cy="2592705"/>
            <a:chOff x="631" y="3342"/>
            <a:chExt cx="15342" cy="4083"/>
          </a:xfrm>
        </p:grpSpPr>
        <p:sp>
          <p:nvSpPr>
            <p:cNvPr id="14" name="立方体 13"/>
            <p:cNvSpPr/>
            <p:nvPr/>
          </p:nvSpPr>
          <p:spPr>
            <a:xfrm flipH="1">
              <a:off x="11296" y="3342"/>
              <a:ext cx="4677" cy="4074"/>
            </a:xfrm>
            <a:prstGeom prst="cube">
              <a:avLst>
                <a:gd name="adj" fmla="val 20148"/>
              </a:avLst>
            </a:prstGeom>
            <a:solidFill>
              <a:srgbClr val="EFF1E6"/>
            </a:solidFill>
            <a:ln>
              <a:solidFill>
                <a:srgbClr val="B4BB8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立方体 12"/>
            <p:cNvSpPr/>
            <p:nvPr/>
          </p:nvSpPr>
          <p:spPr>
            <a:xfrm flipH="1">
              <a:off x="7638" y="3858"/>
              <a:ext cx="4264" cy="3567"/>
            </a:xfrm>
            <a:prstGeom prst="cube">
              <a:avLst>
                <a:gd name="adj" fmla="val 20148"/>
              </a:avLst>
            </a:prstGeom>
            <a:solidFill>
              <a:srgbClr val="E0DFEF"/>
            </a:solidFill>
            <a:ln>
              <a:solidFill>
                <a:srgbClr val="7C7BA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立方体 11"/>
            <p:cNvSpPr/>
            <p:nvPr/>
          </p:nvSpPr>
          <p:spPr>
            <a:xfrm flipH="1">
              <a:off x="4279" y="4379"/>
              <a:ext cx="3906" cy="3046"/>
            </a:xfrm>
            <a:prstGeom prst="cube">
              <a:avLst>
                <a:gd name="adj" fmla="val 20148"/>
              </a:avLst>
            </a:prstGeom>
            <a:solidFill>
              <a:srgbClr val="EAF5D7"/>
            </a:solidFill>
            <a:ln>
              <a:solidFill>
                <a:srgbClr val="A9C27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立方体 3"/>
            <p:cNvSpPr/>
            <p:nvPr/>
          </p:nvSpPr>
          <p:spPr>
            <a:xfrm flipH="1">
              <a:off x="631" y="4820"/>
              <a:ext cx="4134" cy="2605"/>
            </a:xfrm>
            <a:prstGeom prst="cube">
              <a:avLst>
                <a:gd name="adj" fmla="val 20148"/>
              </a:avLst>
            </a:prstGeom>
            <a:solidFill>
              <a:srgbClr val="E5F3F4"/>
            </a:solidFill>
            <a:ln>
              <a:solidFill>
                <a:srgbClr val="54B4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6" name="图片 15" descr="记录员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6285" y="2742565"/>
            <a:ext cx="605155" cy="605155"/>
          </a:xfrm>
          <a:prstGeom prst="rect">
            <a:avLst/>
          </a:prstGeom>
        </p:spPr>
      </p:pic>
      <p:pic>
        <p:nvPicPr>
          <p:cNvPr id="17" name="图片 16" descr="日历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435" y="2558415"/>
            <a:ext cx="675005" cy="675005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5071110" y="2070735"/>
            <a:ext cx="757555" cy="795655"/>
            <a:chOff x="7541" y="310"/>
            <a:chExt cx="1782" cy="2026"/>
          </a:xfrm>
        </p:grpSpPr>
        <p:pic>
          <p:nvPicPr>
            <p:cNvPr id="18" name="图片 17" descr="数据特征提取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85" y="892"/>
              <a:ext cx="1539" cy="1445"/>
            </a:xfrm>
            <a:prstGeom prst="rect">
              <a:avLst/>
            </a:prstGeom>
          </p:spPr>
        </p:pic>
        <p:pic>
          <p:nvPicPr>
            <p:cNvPr id="19" name="图片 18" descr="个人头像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41" y="310"/>
              <a:ext cx="1076" cy="1076"/>
            </a:xfrm>
            <a:prstGeom prst="rect">
              <a:avLst/>
            </a:prstGeom>
          </p:spPr>
        </p:pic>
      </p:grpSp>
      <p:pic>
        <p:nvPicPr>
          <p:cNvPr id="21" name="图片 20" descr="386,图像处理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4030" y="2493010"/>
            <a:ext cx="600075" cy="520700"/>
          </a:xfrm>
          <a:prstGeom prst="rect">
            <a:avLst/>
          </a:prstGeom>
        </p:spPr>
      </p:pic>
      <p:pic>
        <p:nvPicPr>
          <p:cNvPr id="23" name="图片 22" descr="图片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7605" y="1477645"/>
            <a:ext cx="2025015" cy="1264920"/>
          </a:xfrm>
          <a:prstGeom prst="rect">
            <a:avLst/>
          </a:prstGeom>
        </p:spPr>
      </p:pic>
      <p:pic>
        <p:nvPicPr>
          <p:cNvPr id="25" name="图片 24" descr="大模型专家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8125" y="1118235"/>
            <a:ext cx="1181100" cy="1181100"/>
          </a:xfrm>
          <a:prstGeom prst="rect">
            <a:avLst/>
          </a:prstGeom>
          <a:ln>
            <a:noFill/>
          </a:ln>
        </p:spPr>
      </p:pic>
      <p:pic>
        <p:nvPicPr>
          <p:cNvPr id="28" name="图片 27" descr="Gemini_Generated_Image_eutkw9eutkw9eutk(1)(1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500000">
            <a:off x="3649345" y="2151380"/>
            <a:ext cx="507365" cy="638810"/>
          </a:xfrm>
          <a:prstGeom prst="rect">
            <a:avLst/>
          </a:prstGeom>
        </p:spPr>
      </p:pic>
      <p:pic>
        <p:nvPicPr>
          <p:cNvPr id="29" name="图片 28" descr="Gemini_Generated_Image_eutkw9eutkw9eutk(1)(1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500000">
            <a:off x="5709285" y="1648460"/>
            <a:ext cx="507365" cy="638810"/>
          </a:xfrm>
          <a:prstGeom prst="rect">
            <a:avLst/>
          </a:prstGeom>
        </p:spPr>
      </p:pic>
      <p:pic>
        <p:nvPicPr>
          <p:cNvPr id="30" name="图片 29" descr="Gemini_Generated_Image_eutkw9eutkw9eutk(1)(1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40000">
            <a:off x="8208645" y="1201420"/>
            <a:ext cx="507365" cy="63881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1868805" y="3429000"/>
            <a:ext cx="228663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1200" b="1">
                <a:solidFill>
                  <a:srgbClr val="54B4C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STAGE 1:  Memory-based</a:t>
            </a:r>
            <a:endParaRPr lang="en-US" altLang="zh-CN" sz="1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altLang="zh-CN" sz="1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156075" y="3233420"/>
            <a:ext cx="2223135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1200" b="1">
                <a:solidFill>
                  <a:srgbClr val="A9C27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STAGE 2: Traditional Machine Learning</a:t>
            </a:r>
            <a:endParaRPr lang="en-US" altLang="zh-CN" sz="1200" b="1">
              <a:solidFill>
                <a:srgbClr val="C3D89D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altLang="zh-CN" sz="1200" b="1">
              <a:solidFill>
                <a:srgbClr val="C3D89D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442710" y="2985770"/>
            <a:ext cx="22447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1200" b="1">
                <a:solidFill>
                  <a:srgbClr val="7C7BA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STAGE 3: Deep Learning</a:t>
            </a:r>
            <a:endParaRPr lang="en-US" altLang="zh-CN" sz="1200" b="1">
              <a:solidFill>
                <a:srgbClr val="7C7BA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altLang="zh-CN" sz="1200" b="1">
              <a:solidFill>
                <a:srgbClr val="7C7BA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828405" y="2742565"/>
            <a:ext cx="244538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1200" b="1">
                <a:solidFill>
                  <a:srgbClr val="B4BB8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STAGE 4: LLMS &amp; LMMS</a:t>
            </a:r>
            <a:endParaRPr lang="en-US" altLang="zh-CN" sz="1200" b="1">
              <a:solidFill>
                <a:srgbClr val="B4BB8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endParaRPr lang="en-US" altLang="zh-CN" sz="1200" b="1">
              <a:solidFill>
                <a:srgbClr val="B4BB8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1869440" y="3693795"/>
            <a:ext cx="2302510" cy="875665"/>
            <a:chOff x="3026" y="5762"/>
            <a:chExt cx="3626" cy="1379"/>
          </a:xfrm>
        </p:grpSpPr>
        <p:sp>
          <p:nvSpPr>
            <p:cNvPr id="35" name="文本框 34"/>
            <p:cNvSpPr txBox="1"/>
            <p:nvPr/>
          </p:nvSpPr>
          <p:spPr>
            <a:xfrm>
              <a:off x="3026" y="5762"/>
              <a:ext cx="1655" cy="111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000" b="1"/>
                <a:t>Methods:</a:t>
              </a:r>
              <a:endParaRPr lang="en-US" altLang="zh-CN" sz="1000" b="1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/>
                <a:t>24HR Recall</a:t>
              </a:r>
              <a:endParaRPr lang="en-US" altLang="zh-CN" sz="90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/>
                <a:t>FFQ</a:t>
              </a:r>
              <a:endParaRPr lang="en-US" altLang="zh-CN" sz="90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/>
                <a:t>Food Dairies</a:t>
              </a:r>
              <a:endParaRPr lang="en-US" altLang="zh-CN" sz="900"/>
            </a:p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en-US" altLang="zh-CN" sz="1000" b="1"/>
            </a:p>
            <a:p>
              <a:pPr indent="0">
                <a:buFont typeface="Arial" panose="020B0604020202020204" pitchFamily="34" charset="0"/>
                <a:buNone/>
              </a:pPr>
              <a:endParaRPr lang="en-US" altLang="zh-CN" sz="1000" b="1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471" y="5762"/>
              <a:ext cx="2181" cy="1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000" b="1">
                  <a:sym typeface="+mn-ea"/>
                </a:rPr>
                <a:t>Pain Points:</a:t>
              </a:r>
              <a:endParaRPr lang="en-US" altLang="zh-CN" sz="1000" b="1"/>
            </a:p>
            <a:p>
              <a:pPr marL="171450" indent="-1714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900">
                  <a:sym typeface="+mn-ea"/>
                </a:rPr>
                <a:t>High Cognitive Load</a:t>
              </a:r>
              <a:endParaRPr lang="en-US" altLang="zh-CN" sz="900"/>
            </a:p>
            <a:p>
              <a:pPr marL="171450" indent="-1714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900">
                  <a:sym typeface="+mn-ea"/>
                </a:rPr>
                <a:t>Recall Errors</a:t>
              </a:r>
              <a:endParaRPr lang="en-US" altLang="zh-CN" sz="900"/>
            </a:p>
            <a:p>
              <a:endParaRPr lang="zh-CN" altLang="en-US" sz="90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171950" y="3693795"/>
            <a:ext cx="2270760" cy="945515"/>
            <a:chOff x="2975" y="6047"/>
            <a:chExt cx="3576" cy="1489"/>
          </a:xfrm>
        </p:grpSpPr>
        <p:sp>
          <p:nvSpPr>
            <p:cNvPr id="39" name="文本框 38"/>
            <p:cNvSpPr txBox="1"/>
            <p:nvPr/>
          </p:nvSpPr>
          <p:spPr>
            <a:xfrm>
              <a:off x="2975" y="6047"/>
              <a:ext cx="1655" cy="111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000" b="1"/>
                <a:t>Methods:</a:t>
              </a:r>
              <a:endParaRPr lang="en-US" altLang="zh-CN" sz="1000" b="1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/>
                <a:t>Hand-crafted Features</a:t>
              </a:r>
              <a:endParaRPr lang="en-US" altLang="zh-CN" sz="900"/>
            </a:p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en-US" altLang="zh-CN" sz="1000" b="1"/>
            </a:p>
            <a:p>
              <a:pPr indent="0">
                <a:buFont typeface="Arial" panose="020B0604020202020204" pitchFamily="34" charset="0"/>
                <a:buNone/>
              </a:pPr>
              <a:endParaRPr lang="en-US" altLang="zh-CN" sz="1000" b="1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4370" y="6047"/>
              <a:ext cx="2181" cy="1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000" b="1">
                  <a:sym typeface="+mn-ea"/>
                </a:rPr>
                <a:t>Pain Points:</a:t>
              </a:r>
              <a:endParaRPr lang="en-US" altLang="zh-CN" sz="1000" b="1"/>
            </a:p>
            <a:p>
              <a:pPr marL="171450" indent="-1714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900">
                  <a:sym typeface="+mn-ea"/>
                </a:rPr>
                <a:t>Low Generalization</a:t>
              </a:r>
              <a:endParaRPr lang="en-US" altLang="zh-CN" sz="900">
                <a:sym typeface="+mn-ea"/>
              </a:endParaRPr>
            </a:p>
            <a:p>
              <a:pPr marL="171450" indent="-1714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900"/>
                <a:t>Dependency on Reference Objects</a:t>
              </a:r>
              <a:endParaRPr lang="en-US" altLang="zh-CN" sz="90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442710" y="3357245"/>
            <a:ext cx="2270760" cy="1153160"/>
            <a:chOff x="2975" y="5762"/>
            <a:chExt cx="3576" cy="1816"/>
          </a:xfrm>
        </p:grpSpPr>
        <p:sp>
          <p:nvSpPr>
            <p:cNvPr id="43" name="文本框 42"/>
            <p:cNvSpPr txBox="1"/>
            <p:nvPr/>
          </p:nvSpPr>
          <p:spPr>
            <a:xfrm>
              <a:off x="2975" y="5762"/>
              <a:ext cx="1655" cy="111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1000" b="1"/>
                <a:t>Methods:</a:t>
              </a:r>
              <a:endParaRPr lang="en-US" altLang="zh-CN" sz="1000" b="1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/>
                <a:t>CNNs</a:t>
              </a:r>
              <a:endParaRPr lang="en-US" altLang="zh-CN" sz="90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/>
                <a:t>ResNet</a:t>
              </a:r>
              <a:endParaRPr lang="en-US" altLang="zh-CN" sz="90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/>
                <a:t>YOLO</a:t>
              </a:r>
              <a:endParaRPr lang="en-US" altLang="zh-CN" sz="90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altLang="zh-CN" sz="900"/>
            </a:p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endParaRPr lang="en-US" altLang="zh-CN" sz="1000" b="1"/>
            </a:p>
            <a:p>
              <a:pPr indent="0">
                <a:buFont typeface="Arial" panose="020B0604020202020204" pitchFamily="34" charset="0"/>
                <a:buNone/>
              </a:pPr>
              <a:endParaRPr lang="en-US" altLang="zh-CN" sz="1000" b="1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370" y="5762"/>
              <a:ext cx="2181" cy="1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000" b="1">
                  <a:sym typeface="+mn-ea"/>
                </a:rPr>
                <a:t>Pain Points:</a:t>
              </a:r>
              <a:endParaRPr lang="en-US" altLang="zh-CN" sz="1000" b="1"/>
            </a:p>
            <a:p>
              <a:pPr marL="171450" indent="-1714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900">
                  <a:sym typeface="+mn-ea"/>
                </a:rPr>
                <a:t>Lack of semantic reasoning</a:t>
              </a:r>
              <a:endParaRPr lang="en-US" altLang="zh-CN" sz="900">
                <a:sym typeface="+mn-ea"/>
              </a:endParaRPr>
            </a:p>
            <a:p>
              <a:pPr marL="171450" indent="-171450" algn="l">
                <a:lnSpc>
                  <a:spcPct val="150000"/>
                </a:lnSpc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900"/>
                <a:t>Difficulty in handling hidden ingredients</a:t>
              </a:r>
              <a:endParaRPr lang="en-US" altLang="zh-CN" sz="900"/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8839200" y="3202940"/>
            <a:ext cx="2345690" cy="1187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r>
              <a:rPr lang="en-US" altLang="zh-CN" sz="1000" b="1"/>
              <a:t>Features:</a:t>
            </a:r>
            <a:endParaRPr lang="en-US" altLang="zh-CN" sz="1000" b="1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900"/>
              <a:t>Semantic Reasoning Engine</a:t>
            </a:r>
            <a:endParaRPr lang="en-US" altLang="zh-CN" sz="9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900"/>
              <a:t>Context Understanding</a:t>
            </a:r>
            <a:endParaRPr lang="en-US" altLang="zh-CN" sz="9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900"/>
              <a:t>Multimodal Integration</a:t>
            </a:r>
            <a:endParaRPr lang="en-US" altLang="zh-CN" sz="90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900"/>
              <a:t>Personalized Inference</a:t>
            </a:r>
            <a:endParaRPr lang="en-US" altLang="zh-CN" sz="900"/>
          </a:p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000" b="1"/>
          </a:p>
          <a:p>
            <a:pPr indent="0">
              <a:buFont typeface="Arial" panose="020B0604020202020204" pitchFamily="34" charset="0"/>
              <a:buNone/>
            </a:pPr>
            <a:endParaRPr lang="en-US" altLang="zh-CN" sz="1000" b="1"/>
          </a:p>
        </p:txBody>
      </p:sp>
    </p:spTree>
    <p:custDataLst>
      <p:tags r:id="rId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内容占位符 9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40865" y="-4752340"/>
            <a:ext cx="9024620" cy="4462780"/>
          </a:xfrm>
          <a:prstGeom prst="rect">
            <a:avLst/>
          </a:prstGeom>
        </p:spPr>
      </p:pic>
      <p:pic>
        <p:nvPicPr>
          <p:cNvPr id="28" name="图片 27" descr="Gemini_Generated_Image_eutkw9eutkw9eutk(1)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00000">
            <a:off x="418465" y="-1172210"/>
            <a:ext cx="507365" cy="638810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1131570" y="2168525"/>
            <a:ext cx="9090660" cy="4617720"/>
            <a:chOff x="1775" y="73"/>
            <a:chExt cx="14316" cy="7272"/>
          </a:xfrm>
        </p:grpSpPr>
        <p:sp>
          <p:nvSpPr>
            <p:cNvPr id="17" name="圆角矩形 16"/>
            <p:cNvSpPr/>
            <p:nvPr/>
          </p:nvSpPr>
          <p:spPr>
            <a:xfrm>
              <a:off x="4344" y="100"/>
              <a:ext cx="8844" cy="7245"/>
            </a:xfrm>
            <a:prstGeom prst="roundRect">
              <a:avLst/>
            </a:prstGeom>
            <a:solidFill>
              <a:srgbClr val="D7EFF1"/>
            </a:soli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右箭头 7"/>
            <p:cNvSpPr/>
            <p:nvPr/>
          </p:nvSpPr>
          <p:spPr>
            <a:xfrm>
              <a:off x="3200" y="3656"/>
              <a:ext cx="720" cy="464"/>
            </a:xfrm>
            <a:prstGeom prst="rightArrow">
              <a:avLst/>
            </a:prstGeom>
            <a:solidFill>
              <a:srgbClr val="6C859B"/>
            </a:solidFill>
            <a:ln>
              <a:solidFill>
                <a:srgbClr val="6C859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9" name="图片 8" descr="大语言模型-LLM@2x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37" y="73"/>
              <a:ext cx="1297" cy="1105"/>
            </a:xfrm>
            <a:prstGeom prst="rect">
              <a:avLst/>
            </a:prstGeom>
          </p:spPr>
        </p:pic>
        <p:sp>
          <p:nvSpPr>
            <p:cNvPr id="11" name="右箭头 10"/>
            <p:cNvSpPr/>
            <p:nvPr/>
          </p:nvSpPr>
          <p:spPr>
            <a:xfrm>
              <a:off x="13530" y="3536"/>
              <a:ext cx="720" cy="464"/>
            </a:xfrm>
            <a:prstGeom prst="rightArrow">
              <a:avLst/>
            </a:prstGeom>
            <a:solidFill>
              <a:srgbClr val="6C859B"/>
            </a:solidFill>
            <a:ln>
              <a:solidFill>
                <a:srgbClr val="6C859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2" name="图片 11" descr="用户查询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5" y="3116"/>
              <a:ext cx="1425" cy="1425"/>
            </a:xfrm>
            <a:prstGeom prst="rect">
              <a:avLst/>
            </a:prstGeom>
          </p:spPr>
        </p:pic>
        <p:pic>
          <p:nvPicPr>
            <p:cNvPr id="13" name="图片 12" descr="答案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81" y="2892"/>
              <a:ext cx="1610" cy="1566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1923" y="4590"/>
              <a:ext cx="1128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 b="1"/>
                <a:t>Users</a:t>
              </a:r>
              <a:endParaRPr lang="en-US" altLang="zh-CN" sz="900" b="1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289" y="1134"/>
              <a:ext cx="1406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 b="1"/>
                <a:t>LLMS/LMMS</a:t>
              </a:r>
              <a:endParaRPr lang="en-US" altLang="zh-CN" sz="900" b="1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4583" y="4458"/>
              <a:ext cx="1406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 b="1"/>
                <a:t>Answers</a:t>
              </a:r>
              <a:endParaRPr lang="en-US" altLang="zh-CN" sz="900" b="1"/>
            </a:p>
          </p:txBody>
        </p:sp>
        <p:pic>
          <p:nvPicPr>
            <p:cNvPr id="19" name="图片 18" descr="屏幕截图 2026-03-27 161649(1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07" y="2631"/>
              <a:ext cx="1812" cy="1721"/>
            </a:xfrm>
            <a:prstGeom prst="rect">
              <a:avLst/>
            </a:prstGeom>
          </p:spPr>
        </p:pic>
        <p:sp>
          <p:nvSpPr>
            <p:cNvPr id="20" name="右箭头 19"/>
            <p:cNvSpPr/>
            <p:nvPr/>
          </p:nvSpPr>
          <p:spPr>
            <a:xfrm rot="8100000">
              <a:off x="5611" y="1832"/>
              <a:ext cx="1384" cy="368"/>
            </a:xfrm>
            <a:prstGeom prst="rightArrow">
              <a:avLst/>
            </a:prstGeom>
            <a:solidFill>
              <a:srgbClr val="3E858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12" y="4352"/>
              <a:ext cx="1128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 b="1"/>
                <a:t>L</a:t>
              </a:r>
              <a:r>
                <a:rPr lang="en-US" altLang="zh-CN" sz="900" b="1"/>
                <a:t>oRA</a:t>
              </a:r>
              <a:endParaRPr lang="en-US" altLang="zh-CN" sz="900" b="1"/>
            </a:p>
          </p:txBody>
        </p:sp>
        <p:sp>
          <p:nvSpPr>
            <p:cNvPr id="22" name="右箭头 21"/>
            <p:cNvSpPr/>
            <p:nvPr/>
          </p:nvSpPr>
          <p:spPr>
            <a:xfrm rot="2820000">
              <a:off x="8928" y="1795"/>
              <a:ext cx="1389" cy="368"/>
            </a:xfrm>
            <a:prstGeom prst="rightArrow">
              <a:avLst/>
            </a:prstGeom>
            <a:solidFill>
              <a:srgbClr val="3E858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右箭头 22"/>
            <p:cNvSpPr/>
            <p:nvPr/>
          </p:nvSpPr>
          <p:spPr>
            <a:xfrm rot="5400000">
              <a:off x="7462" y="1804"/>
              <a:ext cx="1048" cy="368"/>
            </a:xfrm>
            <a:prstGeom prst="rightArrow">
              <a:avLst/>
            </a:prstGeom>
            <a:solidFill>
              <a:srgbClr val="3E858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4848" y="2952"/>
              <a:ext cx="1424" cy="1168"/>
              <a:chOff x="4904" y="2940"/>
              <a:chExt cx="1288" cy="1104"/>
            </a:xfrm>
          </p:grpSpPr>
          <p:sp>
            <p:nvSpPr>
              <p:cNvPr id="24" name="圆柱形 23"/>
              <p:cNvSpPr/>
              <p:nvPr/>
            </p:nvSpPr>
            <p:spPr>
              <a:xfrm>
                <a:off x="4904" y="2940"/>
                <a:ext cx="1288" cy="1104"/>
              </a:xfrm>
              <a:prstGeom prst="can">
                <a:avLst/>
              </a:prstGeom>
              <a:solidFill>
                <a:srgbClr val="95C6CF"/>
              </a:solidFill>
              <a:ln>
                <a:solidFill>
                  <a:srgbClr val="3E858E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5096" y="3333"/>
                <a:ext cx="904" cy="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900">
                    <a:sym typeface="+mn-ea"/>
                  </a:rPr>
                  <a:t>V</a:t>
                </a:r>
                <a:r>
                  <a:rPr lang="en-US" altLang="zh-CN" sz="900">
                    <a:sym typeface="+mn-ea"/>
                  </a:rPr>
                  <a:t>ector</a:t>
                </a:r>
                <a:endParaRPr lang="en-US" altLang="zh-CN" sz="900"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900">
                    <a:sym typeface="+mn-ea"/>
                  </a:rPr>
                  <a:t>DB</a:t>
                </a:r>
                <a:endParaRPr lang="en-US" altLang="zh-CN" sz="900">
                  <a:sym typeface="+mn-ea"/>
                </a:endParaRPr>
              </a:p>
            </p:txBody>
          </p:sp>
        </p:grpSp>
        <p:sp>
          <p:nvSpPr>
            <p:cNvPr id="26" name="文本框 25"/>
            <p:cNvSpPr txBox="1"/>
            <p:nvPr/>
          </p:nvSpPr>
          <p:spPr>
            <a:xfrm>
              <a:off x="4984" y="4349"/>
              <a:ext cx="1128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 b="1"/>
                <a:t>RAG</a:t>
              </a:r>
              <a:endParaRPr lang="en-US" altLang="zh-CN" sz="900" b="1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0396" y="1924"/>
              <a:ext cx="2542" cy="1028"/>
              <a:chOff x="10501" y="1812"/>
              <a:chExt cx="2542" cy="1028"/>
            </a:xfrm>
          </p:grpSpPr>
          <p:sp>
            <p:nvSpPr>
              <p:cNvPr id="32" name="椭圆形标注 31"/>
              <p:cNvSpPr/>
              <p:nvPr/>
            </p:nvSpPr>
            <p:spPr>
              <a:xfrm>
                <a:off x="10501" y="1812"/>
                <a:ext cx="2543" cy="1028"/>
              </a:xfrm>
              <a:prstGeom prst="wedgeEllipseCallout">
                <a:avLst/>
              </a:prstGeom>
              <a:solidFill>
                <a:srgbClr val="95C6C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11017" y="1982"/>
                <a:ext cx="1512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900"/>
                  <a:t>First step: ...</a:t>
                </a:r>
                <a:endParaRPr lang="en-US" altLang="zh-CN" sz="900"/>
              </a:p>
              <a:p>
                <a:r>
                  <a:rPr lang="en-US" altLang="zh-CN" sz="900"/>
                  <a:t>Second step: ...</a:t>
                </a:r>
                <a:endParaRPr lang="en-US" altLang="zh-CN" sz="900"/>
              </a:p>
              <a:p>
                <a:r>
                  <a:rPr lang="en-US" altLang="zh-CN" sz="900"/>
                  <a:t>...</a:t>
                </a:r>
                <a:endParaRPr lang="en-US" altLang="zh-CN" sz="900"/>
              </a:p>
            </p:txBody>
          </p:sp>
        </p:grpSp>
        <p:sp>
          <p:nvSpPr>
            <p:cNvPr id="34" name="文本框 33"/>
            <p:cNvSpPr txBox="1"/>
            <p:nvPr/>
          </p:nvSpPr>
          <p:spPr>
            <a:xfrm>
              <a:off x="9840" y="4349"/>
              <a:ext cx="1128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 b="1"/>
                <a:t>COT</a:t>
              </a:r>
              <a:endParaRPr lang="en-US" altLang="zh-CN" sz="900" b="1"/>
            </a:p>
          </p:txBody>
        </p:sp>
        <p:pic>
          <p:nvPicPr>
            <p:cNvPr id="36" name="图片 35" descr="记录员 (4)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28" y="2760"/>
              <a:ext cx="1552" cy="1552"/>
            </a:xfrm>
            <a:prstGeom prst="rect">
              <a:avLst/>
            </a:prstGeom>
          </p:spPr>
        </p:pic>
        <p:sp>
          <p:nvSpPr>
            <p:cNvPr id="37" name="右箭头 36"/>
            <p:cNvSpPr/>
            <p:nvPr/>
          </p:nvSpPr>
          <p:spPr>
            <a:xfrm rot="2700000">
              <a:off x="5611" y="5116"/>
              <a:ext cx="1384" cy="368"/>
            </a:xfrm>
            <a:prstGeom prst="rightArrow">
              <a:avLst/>
            </a:prstGeom>
            <a:solidFill>
              <a:srgbClr val="3E858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右箭头 37"/>
            <p:cNvSpPr/>
            <p:nvPr/>
          </p:nvSpPr>
          <p:spPr>
            <a:xfrm rot="5400000">
              <a:off x="7462" y="5100"/>
              <a:ext cx="1048" cy="368"/>
            </a:xfrm>
            <a:prstGeom prst="rightArrow">
              <a:avLst/>
            </a:prstGeom>
            <a:solidFill>
              <a:srgbClr val="3E858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右箭头 38"/>
            <p:cNvSpPr/>
            <p:nvPr/>
          </p:nvSpPr>
          <p:spPr>
            <a:xfrm rot="8160000">
              <a:off x="8852" y="5120"/>
              <a:ext cx="1389" cy="368"/>
            </a:xfrm>
            <a:prstGeom prst="rightArrow">
              <a:avLst/>
            </a:prstGeom>
            <a:solidFill>
              <a:srgbClr val="3E858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7337" y="5919"/>
              <a:ext cx="1296" cy="1104"/>
              <a:chOff x="1650" y="5631"/>
              <a:chExt cx="1296" cy="1104"/>
            </a:xfrm>
          </p:grpSpPr>
          <p:pic>
            <p:nvPicPr>
              <p:cNvPr id="40" name="图片 39" descr="大语言模型-LLM@2x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0" y="5631"/>
                <a:ext cx="1297" cy="1105"/>
              </a:xfrm>
              <a:prstGeom prst="rect">
                <a:avLst/>
              </a:prstGeom>
            </p:spPr>
          </p:pic>
          <p:sp>
            <p:nvSpPr>
              <p:cNvPr id="42" name="椭圆 41"/>
              <p:cNvSpPr/>
              <p:nvPr/>
            </p:nvSpPr>
            <p:spPr>
              <a:xfrm>
                <a:off x="2040" y="6166"/>
                <a:ext cx="184" cy="18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2376" y="6166"/>
                <a:ext cx="184" cy="18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45" name="文本框 44"/>
            <p:cNvSpPr txBox="1"/>
            <p:nvPr/>
          </p:nvSpPr>
          <p:spPr>
            <a:xfrm>
              <a:off x="6698" y="6983"/>
              <a:ext cx="2743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 b="1"/>
                <a:t>Enhanced LLMS/LMMS</a:t>
              </a:r>
              <a:endParaRPr lang="en-US" altLang="zh-CN" sz="900" b="1"/>
            </a:p>
          </p:txBody>
        </p:sp>
      </p:grpSp>
      <p:pic>
        <p:nvPicPr>
          <p:cNvPr id="46" name="图片 45" descr="figure 2-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6945" y="128270"/>
            <a:ext cx="5911850" cy="191135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圆角矩形 7"/>
          <p:cNvSpPr/>
          <p:nvPr/>
        </p:nvSpPr>
        <p:spPr>
          <a:xfrm>
            <a:off x="53340" y="55880"/>
            <a:ext cx="4275455" cy="4572000"/>
          </a:xfrm>
          <a:prstGeom prst="roundRect">
            <a:avLst/>
          </a:prstGeom>
          <a:solidFill>
            <a:srgbClr val="F6F7F2"/>
          </a:solidFill>
          <a:ln>
            <a:solidFill>
              <a:srgbClr val="C8C8C8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4388485" y="55880"/>
            <a:ext cx="2736850" cy="4572000"/>
          </a:xfrm>
          <a:prstGeom prst="roundRect">
            <a:avLst/>
          </a:prstGeom>
          <a:solidFill>
            <a:srgbClr val="F6F7F2"/>
          </a:solidFill>
          <a:ln>
            <a:solidFill>
              <a:srgbClr val="C8C8C8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192010" y="55245"/>
            <a:ext cx="3199130" cy="4572635"/>
          </a:xfrm>
          <a:prstGeom prst="roundRect">
            <a:avLst/>
          </a:prstGeom>
          <a:solidFill>
            <a:srgbClr val="F6F7F2"/>
          </a:solidFill>
          <a:ln>
            <a:solidFill>
              <a:srgbClr val="C8C8C8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1185" y="114935"/>
            <a:ext cx="3292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Input: Multimodal Data</a:t>
            </a:r>
            <a:endParaRPr lang="en-US" altLang="zh-CN" b="1"/>
          </a:p>
        </p:txBody>
      </p:sp>
      <p:grpSp>
        <p:nvGrpSpPr>
          <p:cNvPr id="16" name="组合 15"/>
          <p:cNvGrpSpPr/>
          <p:nvPr/>
        </p:nvGrpSpPr>
        <p:grpSpPr>
          <a:xfrm>
            <a:off x="120650" y="1125220"/>
            <a:ext cx="2276586" cy="2657475"/>
            <a:chOff x="457" y="1288"/>
            <a:chExt cx="3053" cy="3600"/>
          </a:xfrm>
        </p:grpSpPr>
        <p:sp>
          <p:nvSpPr>
            <p:cNvPr id="12" name="圆角矩形 11"/>
            <p:cNvSpPr/>
            <p:nvPr/>
          </p:nvSpPr>
          <p:spPr>
            <a:xfrm>
              <a:off x="457" y="1288"/>
              <a:ext cx="3053" cy="3600"/>
            </a:xfrm>
            <a:prstGeom prst="roundRect">
              <a:avLst/>
            </a:prstGeom>
            <a:solidFill>
              <a:srgbClr val="E9E9E7"/>
            </a:solidFill>
            <a:ln>
              <a:solidFill>
                <a:srgbClr val="A6A4A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77" y="1395"/>
              <a:ext cx="2813" cy="45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200" b="1">
                  <a:sym typeface="+mn-ea"/>
                </a:rPr>
                <a:t> </a:t>
              </a:r>
              <a:r>
                <a:rPr lang="en-US" altLang="zh-CN" sz="1400" b="1">
                  <a:sym typeface="+mn-ea"/>
                </a:rPr>
                <a:t>Complex Meal Image</a:t>
              </a:r>
              <a:endParaRPr lang="en-US" altLang="zh-CN" sz="1200" b="1"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endParaRPr lang="en-US" altLang="zh-CN" sz="1200" b="1">
                <a:sym typeface="+mn-ea"/>
              </a:endParaRPr>
            </a:p>
          </p:txBody>
        </p:sp>
        <p:pic>
          <p:nvPicPr>
            <p:cNvPr id="14" name="图片 13" descr="Gemini_Generated_Image_ecz6cvecz6cvecz6(1)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77" y="1849"/>
              <a:ext cx="2813" cy="2735"/>
            </a:xfrm>
            <a:prstGeom prst="rect">
              <a:avLst/>
            </a:prstGeom>
          </p:spPr>
        </p:pic>
      </p:grpSp>
      <p:sp>
        <p:nvSpPr>
          <p:cNvPr id="15" name="圆角矩形 14"/>
          <p:cNvSpPr/>
          <p:nvPr/>
        </p:nvSpPr>
        <p:spPr>
          <a:xfrm>
            <a:off x="2642870" y="698500"/>
            <a:ext cx="1227455" cy="1346200"/>
          </a:xfrm>
          <a:prstGeom prst="roundRect">
            <a:avLst/>
          </a:prstGeom>
          <a:solidFill>
            <a:srgbClr val="E9E9E7"/>
          </a:solidFill>
          <a:ln>
            <a:solidFill>
              <a:srgbClr val="A6A4A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523490" y="1014730"/>
            <a:ext cx="1474470" cy="28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ym typeface="+mn-ea"/>
              </a:rPr>
              <a:t>User Context</a:t>
            </a:r>
            <a:endParaRPr lang="en-US" altLang="zh-CN" sz="1400" b="1"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altLang="zh-CN" sz="1400" b="1">
              <a:sym typeface="+mn-ea"/>
            </a:endParaRPr>
          </a:p>
        </p:txBody>
      </p:sp>
      <p:sp>
        <p:nvSpPr>
          <p:cNvPr id="21" name="右箭头 20"/>
          <p:cNvSpPr/>
          <p:nvPr/>
        </p:nvSpPr>
        <p:spPr>
          <a:xfrm flipV="1">
            <a:off x="2397760" y="2459990"/>
            <a:ext cx="2065655" cy="76200"/>
          </a:xfrm>
          <a:prstGeom prst="rightArrow">
            <a:avLst>
              <a:gd name="adj1" fmla="val 33333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642870" y="1242060"/>
            <a:ext cx="1227455" cy="987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None/>
            </a:pPr>
            <a:r>
              <a:rPr lang="en-US" altLang="zh-CN" sz="900" b="1"/>
              <a:t>Age, Gender,</a:t>
            </a:r>
            <a:endParaRPr lang="en-US" altLang="zh-CN" sz="900" b="1"/>
          </a:p>
          <a:p>
            <a:pPr algn="ctr">
              <a:buClrTx/>
              <a:buSzTx/>
              <a:buNone/>
            </a:pPr>
            <a:r>
              <a:rPr lang="en-US" altLang="zh-CN" sz="900" b="1"/>
              <a:t>Lifestyle,</a:t>
            </a:r>
            <a:endParaRPr lang="en-US" altLang="zh-CN" sz="900" b="1"/>
          </a:p>
          <a:p>
            <a:pPr algn="ctr">
              <a:buClrTx/>
              <a:buSzTx/>
              <a:buNone/>
            </a:pPr>
            <a:r>
              <a:rPr lang="en-US" altLang="zh-CN" sz="900" b="1"/>
              <a:t>Location,</a:t>
            </a:r>
            <a:endParaRPr lang="en-US" altLang="zh-CN" sz="900" b="1"/>
          </a:p>
          <a:p>
            <a:pPr algn="ctr">
              <a:buClrTx/>
              <a:buSzTx/>
              <a:buNone/>
            </a:pPr>
            <a:r>
              <a:rPr lang="en-US" altLang="zh-CN" sz="900" b="1"/>
              <a:t>Health Goals</a:t>
            </a:r>
            <a:endParaRPr lang="en-US" altLang="zh-CN" sz="900" b="1"/>
          </a:p>
          <a:p>
            <a:pPr algn="ctr">
              <a:buClrTx/>
              <a:buSzTx/>
              <a:buNone/>
            </a:pPr>
            <a:r>
              <a:rPr lang="en-US" altLang="zh-CN" sz="900" b="1"/>
              <a:t>...</a:t>
            </a:r>
            <a:endParaRPr lang="en-US" altLang="zh-CN" sz="900" b="1"/>
          </a:p>
          <a:p>
            <a:pPr algn="ctr"/>
            <a:endParaRPr lang="en-US" altLang="zh-CN" sz="1000"/>
          </a:p>
        </p:txBody>
      </p:sp>
      <p:pic>
        <p:nvPicPr>
          <p:cNvPr id="26" name="图片 25" descr="Gemini_Generated_Image_ecz6cvecz6cvecz6(1)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685" y="704850"/>
            <a:ext cx="442595" cy="394970"/>
          </a:xfrm>
          <a:prstGeom prst="rect">
            <a:avLst/>
          </a:prstGeom>
        </p:spPr>
      </p:pic>
      <p:sp>
        <p:nvSpPr>
          <p:cNvPr id="27" name="圆角矩形 26"/>
          <p:cNvSpPr/>
          <p:nvPr/>
        </p:nvSpPr>
        <p:spPr>
          <a:xfrm>
            <a:off x="3061970" y="3045460"/>
            <a:ext cx="1201420" cy="745490"/>
          </a:xfrm>
          <a:prstGeom prst="roundRect">
            <a:avLst/>
          </a:prstGeom>
          <a:solidFill>
            <a:srgbClr val="E9E9E7"/>
          </a:solidFill>
          <a:ln>
            <a:solidFill>
              <a:srgbClr val="A6A4A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061970" y="3156585"/>
            <a:ext cx="1201420" cy="608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400" b="1">
                <a:sym typeface="+mn-ea"/>
              </a:rPr>
              <a:t>Description Contex</a:t>
            </a:r>
            <a:r>
              <a:rPr lang="en-US" altLang="zh-CN" sz="1400" b="1">
                <a:sym typeface="+mn-ea"/>
              </a:rPr>
              <a:t>t</a:t>
            </a:r>
            <a:endParaRPr lang="en-US" altLang="zh-CN" sz="1400" b="1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387850" y="114935"/>
            <a:ext cx="268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The Dispatcher</a:t>
            </a:r>
            <a:endParaRPr lang="en-US" altLang="zh-CN" b="1"/>
          </a:p>
        </p:txBody>
      </p:sp>
      <p:sp>
        <p:nvSpPr>
          <p:cNvPr id="33" name="右箭头 32"/>
          <p:cNvSpPr/>
          <p:nvPr/>
        </p:nvSpPr>
        <p:spPr>
          <a:xfrm rot="5400000" flipV="1">
            <a:off x="3240405" y="2248535"/>
            <a:ext cx="463550" cy="76200"/>
          </a:xfrm>
          <a:prstGeom prst="rightArrow">
            <a:avLst>
              <a:gd name="adj1" fmla="val 33333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 rot="16200000" flipV="1">
            <a:off x="3446145" y="2698750"/>
            <a:ext cx="571500" cy="93980"/>
          </a:xfrm>
          <a:prstGeom prst="rightArrow">
            <a:avLst>
              <a:gd name="adj1" fmla="val 20270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192010" y="114935"/>
            <a:ext cx="3073400" cy="648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Specialized Experts &amp; Tools</a:t>
            </a:r>
            <a:endParaRPr lang="en-US" altLang="zh-CN" b="1"/>
          </a:p>
          <a:p>
            <a:pPr algn="ctr"/>
            <a:endParaRPr lang="en-US" altLang="zh-CN" b="1"/>
          </a:p>
        </p:txBody>
      </p:sp>
      <p:sp>
        <p:nvSpPr>
          <p:cNvPr id="39" name="圆角矩形 38"/>
          <p:cNvSpPr/>
          <p:nvPr/>
        </p:nvSpPr>
        <p:spPr>
          <a:xfrm>
            <a:off x="7251065" y="704850"/>
            <a:ext cx="3060065" cy="1198245"/>
          </a:xfrm>
          <a:prstGeom prst="roundRect">
            <a:avLst/>
          </a:prstGeom>
          <a:solidFill>
            <a:srgbClr val="DCE9F2"/>
          </a:solidFill>
          <a:ln>
            <a:solidFill>
              <a:srgbClr val="697F9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7251065" y="1968500"/>
            <a:ext cx="3065780" cy="1198245"/>
          </a:xfrm>
          <a:prstGeom prst="roundRect">
            <a:avLst/>
          </a:prstGeom>
          <a:solidFill>
            <a:srgbClr val="E0ECD8"/>
          </a:solidFill>
          <a:ln>
            <a:solidFill>
              <a:srgbClr val="627E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/>
        </p:nvSpPr>
        <p:spPr>
          <a:xfrm>
            <a:off x="7250430" y="3232150"/>
            <a:ext cx="3060700" cy="1198245"/>
          </a:xfrm>
          <a:prstGeom prst="roundRect">
            <a:avLst/>
          </a:prstGeom>
          <a:solidFill>
            <a:srgbClr val="E9E0EB"/>
          </a:solidFill>
          <a:ln>
            <a:solidFill>
              <a:srgbClr val="68447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53340" y="4692650"/>
            <a:ext cx="10337800" cy="1084580"/>
          </a:xfrm>
          <a:prstGeom prst="roundRect">
            <a:avLst/>
          </a:prstGeom>
          <a:solidFill>
            <a:srgbClr val="FDEEC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7295515" y="699770"/>
            <a:ext cx="2855595" cy="28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400" b="1">
                <a:sym typeface="+mn-ea"/>
              </a:rPr>
              <a:t>1. Visual Expert</a:t>
            </a:r>
            <a:endParaRPr lang="en-US" altLang="zh-CN" sz="1400" b="1"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zh-CN" sz="1400" b="1"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295515" y="1967865"/>
            <a:ext cx="2861945" cy="28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400" b="1">
                <a:sym typeface="+mn-ea"/>
              </a:rPr>
              <a:t>2. RAG Expert</a:t>
            </a:r>
            <a:endParaRPr lang="en-US" altLang="zh-CN" sz="1400" b="1"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zh-CN" sz="1400" b="1"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295515" y="3232150"/>
            <a:ext cx="2861945" cy="28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400" b="1">
                <a:sym typeface="+mn-ea"/>
              </a:rPr>
              <a:t>3. Computational Tools</a:t>
            </a:r>
            <a:endParaRPr lang="en-US" altLang="zh-CN" sz="1400" b="1"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zh-CN" sz="1400" b="1">
              <a:sym typeface="+mn-ea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4419600" y="763905"/>
            <a:ext cx="1872615" cy="3234055"/>
            <a:chOff x="6911" y="857"/>
            <a:chExt cx="2949" cy="5093"/>
          </a:xfrm>
        </p:grpSpPr>
        <p:sp>
          <p:nvSpPr>
            <p:cNvPr id="31" name="圆角矩形 30"/>
            <p:cNvSpPr/>
            <p:nvPr/>
          </p:nvSpPr>
          <p:spPr>
            <a:xfrm>
              <a:off x="7028" y="890"/>
              <a:ext cx="2662" cy="5061"/>
            </a:xfrm>
            <a:prstGeom prst="roundRect">
              <a:avLst/>
            </a:prstGeom>
            <a:solidFill>
              <a:srgbClr val="E9E9E7"/>
            </a:solidFill>
            <a:ln>
              <a:solidFill>
                <a:srgbClr val="A6A4A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7029" y="857"/>
              <a:ext cx="2662" cy="6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200" b="1">
                  <a:sym typeface="+mn-ea"/>
                </a:rPr>
                <a:t> </a:t>
              </a:r>
              <a:r>
                <a:rPr lang="en-US" altLang="zh-CN" sz="1400" b="1">
                  <a:sym typeface="+mn-ea"/>
                </a:rPr>
                <a:t>Central Multimodal</a:t>
              </a:r>
              <a:endParaRPr lang="en-US" altLang="zh-CN" sz="1400" b="1"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endParaRPr lang="en-US" altLang="zh-CN" sz="1200" b="1">
                <a:sym typeface="+mn-ea"/>
              </a:endParaRPr>
            </a:p>
          </p:txBody>
        </p:sp>
        <p:pic>
          <p:nvPicPr>
            <p:cNvPr id="45" name="图片 44" descr="GPT(1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6" y="2523"/>
              <a:ext cx="1572" cy="1572"/>
            </a:xfrm>
            <a:prstGeom prst="rect">
              <a:avLst/>
            </a:prstGeom>
          </p:spPr>
        </p:pic>
        <p:pic>
          <p:nvPicPr>
            <p:cNvPr id="50" name="图片 49" descr="Gemini_Generated_Image_ecz6cvecz6cvecz6(1)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08" y="1804"/>
              <a:ext cx="538" cy="494"/>
            </a:xfrm>
            <a:prstGeom prst="rect">
              <a:avLst/>
            </a:prstGeom>
          </p:spPr>
        </p:pic>
        <p:pic>
          <p:nvPicPr>
            <p:cNvPr id="51" name="图片 50" descr="Gemini_Generated_Image_ecz6cvecz6cvecz6(1)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41" y="1838"/>
              <a:ext cx="545" cy="586"/>
            </a:xfrm>
            <a:prstGeom prst="rect">
              <a:avLst/>
            </a:prstGeom>
          </p:spPr>
        </p:pic>
        <p:pic>
          <p:nvPicPr>
            <p:cNvPr id="52" name="图片 51" descr="Gemini_Generated_Image_ecz6cvecz6cvecz6(1)(1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02" y="3556"/>
              <a:ext cx="610" cy="657"/>
            </a:xfrm>
            <a:prstGeom prst="rect">
              <a:avLst/>
            </a:prstGeom>
          </p:spPr>
        </p:pic>
        <p:pic>
          <p:nvPicPr>
            <p:cNvPr id="53" name="图片 52" descr="数据融合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24" y="3966"/>
              <a:ext cx="601" cy="601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6911" y="2199"/>
              <a:ext cx="146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 b="1"/>
                <a:t>Prompt</a:t>
              </a:r>
              <a:endParaRPr lang="en-US" altLang="zh-CN" sz="900" b="1"/>
            </a:p>
            <a:p>
              <a:pPr algn="ctr"/>
              <a:r>
                <a:rPr lang="en-US" altLang="zh-CN" sz="900" b="1"/>
                <a:t>Interpretation</a:t>
              </a:r>
              <a:endParaRPr lang="en-US" altLang="zh-CN" sz="900"/>
            </a:p>
            <a:p>
              <a:endParaRPr lang="en-US" altLang="zh-CN" sz="900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8539" y="2347"/>
              <a:ext cx="1229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 b="1"/>
                <a:t>Dynamic</a:t>
              </a:r>
              <a:endParaRPr lang="en-US" altLang="zh-CN" sz="900" b="1"/>
            </a:p>
            <a:p>
              <a:pPr algn="ctr"/>
              <a:r>
                <a:rPr lang="en-US" altLang="zh-CN" sz="900" b="1"/>
                <a:t>Planning</a:t>
              </a:r>
              <a:endParaRPr lang="en-US" altLang="zh-CN" sz="900" b="1"/>
            </a:p>
            <a:p>
              <a:endParaRPr lang="en-US" altLang="zh-CN" sz="900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6961" y="4194"/>
              <a:ext cx="1273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en-US" altLang="zh-CN" sz="900" b="1">
                  <a:sym typeface="+mn-ea"/>
                </a:rPr>
                <a:t>Multimodal</a:t>
              </a:r>
              <a:endParaRPr lang="en-US" altLang="zh-CN" sz="900" b="1"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900" b="1">
                  <a:sym typeface="+mn-ea"/>
                </a:rPr>
                <a:t>Reasoning</a:t>
              </a:r>
              <a:endParaRPr lang="en-US" altLang="zh-CN" sz="900" b="1"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endParaRPr lang="en-US" altLang="zh-CN" sz="900" b="1">
                <a:sym typeface="+mn-ea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8588" y="4475"/>
              <a:ext cx="127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en-US" altLang="zh-CN" sz="900" b="1">
                  <a:sym typeface="+mn-ea"/>
                </a:rPr>
                <a:t>Data</a:t>
              </a:r>
              <a:endParaRPr lang="en-US" altLang="zh-CN" sz="900" b="1"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altLang="zh-CN" sz="900" b="1">
                  <a:sym typeface="+mn-ea"/>
                </a:rPr>
                <a:t>Fusion</a:t>
              </a:r>
              <a:endParaRPr lang="en-US" altLang="zh-CN" sz="900" b="1">
                <a:sym typeface="+mn-ea"/>
              </a:endParaRPr>
            </a:p>
          </p:txBody>
        </p:sp>
        <p:sp>
          <p:nvSpPr>
            <p:cNvPr id="60" name="圆角右箭头 59"/>
            <p:cNvSpPr/>
            <p:nvPr/>
          </p:nvSpPr>
          <p:spPr>
            <a:xfrm rot="5580000" flipH="1">
              <a:off x="8944" y="2879"/>
              <a:ext cx="348" cy="347"/>
            </a:xfrm>
            <a:prstGeom prst="bentArrow">
              <a:avLst>
                <a:gd name="adj1" fmla="val 2024"/>
                <a:gd name="adj2" fmla="val 14344"/>
                <a:gd name="adj3" fmla="val 25000"/>
                <a:gd name="adj4" fmla="val 4375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1" name="圆角右箭头 60"/>
            <p:cNvSpPr/>
            <p:nvPr/>
          </p:nvSpPr>
          <p:spPr>
            <a:xfrm rot="10800000" flipH="1">
              <a:off x="8464" y="3902"/>
              <a:ext cx="348" cy="347"/>
            </a:xfrm>
            <a:prstGeom prst="bentArrow">
              <a:avLst>
                <a:gd name="adj1" fmla="val 2024"/>
                <a:gd name="adj2" fmla="val 14344"/>
                <a:gd name="adj3" fmla="val 25000"/>
                <a:gd name="adj4" fmla="val 4375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圆角右箭头 61"/>
            <p:cNvSpPr/>
            <p:nvPr/>
          </p:nvSpPr>
          <p:spPr>
            <a:xfrm rot="16200000" flipH="1">
              <a:off x="7502" y="3163"/>
              <a:ext cx="348" cy="347"/>
            </a:xfrm>
            <a:prstGeom prst="bentArrow">
              <a:avLst>
                <a:gd name="adj1" fmla="val 2024"/>
                <a:gd name="adj2" fmla="val 14344"/>
                <a:gd name="adj3" fmla="val 25000"/>
                <a:gd name="adj4" fmla="val 4375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3" name="圆角右箭头 62"/>
            <p:cNvSpPr/>
            <p:nvPr/>
          </p:nvSpPr>
          <p:spPr>
            <a:xfrm flipH="1">
              <a:off x="8116" y="2047"/>
              <a:ext cx="348" cy="647"/>
            </a:xfrm>
            <a:prstGeom prst="bentArrow">
              <a:avLst>
                <a:gd name="adj1" fmla="val 2024"/>
                <a:gd name="adj2" fmla="val 14344"/>
                <a:gd name="adj3" fmla="val 25000"/>
                <a:gd name="adj4" fmla="val 4375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2" name="图片 1" descr="Gemini_Generated_Image_mpqg4jmpqg4jmpq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14630" y="-6946900"/>
            <a:ext cx="12192000" cy="664972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6392545" y="2118995"/>
            <a:ext cx="595630" cy="619125"/>
            <a:chOff x="19883" y="-7334"/>
            <a:chExt cx="3498" cy="3805"/>
          </a:xfrm>
        </p:grpSpPr>
        <p:pic>
          <p:nvPicPr>
            <p:cNvPr id="23" name="图片 22" descr="Gemini_Generated_Image_ecz6cvecz6cvecz6(1)(1)"/>
            <p:cNvPicPr>
              <a:picLocks noChangeAspect="1"/>
            </p:cNvPicPr>
            <p:nvPr/>
          </p:nvPicPr>
          <p:blipFill>
            <a:blip r:embed="rId9"/>
            <a:srcRect l="31723"/>
            <a:stretch>
              <a:fillRect/>
            </a:stretch>
          </p:blipFill>
          <p:spPr>
            <a:xfrm>
              <a:off x="21063" y="-7334"/>
              <a:ext cx="2318" cy="3805"/>
            </a:xfrm>
            <a:prstGeom prst="rect">
              <a:avLst/>
            </a:prstGeom>
          </p:spPr>
        </p:pic>
        <p:pic>
          <p:nvPicPr>
            <p:cNvPr id="24" name="图片 23" descr="文件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883" y="-6125"/>
              <a:ext cx="1386" cy="1386"/>
            </a:xfrm>
            <a:prstGeom prst="rect">
              <a:avLst/>
            </a:prstGeom>
          </p:spPr>
        </p:pic>
        <p:sp>
          <p:nvSpPr>
            <p:cNvPr id="29" name="椭圆 28"/>
            <p:cNvSpPr/>
            <p:nvPr/>
          </p:nvSpPr>
          <p:spPr>
            <a:xfrm>
              <a:off x="22297" y="-7251"/>
              <a:ext cx="1008" cy="1008"/>
            </a:xfrm>
            <a:prstGeom prst="ellipse">
              <a:avLst/>
            </a:prstGeom>
            <a:solidFill>
              <a:srgbClr val="DBE7F2"/>
            </a:solidFill>
            <a:ln>
              <a:solidFill>
                <a:srgbClr val="65728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22297" y="-5935"/>
              <a:ext cx="1008" cy="1008"/>
            </a:xfrm>
            <a:prstGeom prst="ellipse">
              <a:avLst/>
            </a:prstGeom>
            <a:solidFill>
              <a:srgbClr val="E0EBD6"/>
            </a:solidFill>
            <a:ln>
              <a:solidFill>
                <a:srgbClr val="6C865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22297" y="-4537"/>
              <a:ext cx="1008" cy="1008"/>
            </a:xfrm>
            <a:prstGeom prst="ellipse">
              <a:avLst/>
            </a:prstGeom>
            <a:solidFill>
              <a:srgbClr val="E8DEEC"/>
            </a:solidFill>
            <a:ln>
              <a:solidFill>
                <a:srgbClr val="7B5D8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右箭头 36"/>
          <p:cNvSpPr/>
          <p:nvPr/>
        </p:nvSpPr>
        <p:spPr>
          <a:xfrm>
            <a:off x="6189980" y="2383790"/>
            <a:ext cx="202565" cy="76200"/>
          </a:xfrm>
          <a:prstGeom prst="rightArrow">
            <a:avLst>
              <a:gd name="adj1" fmla="val 33333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右箭头 39"/>
          <p:cNvSpPr/>
          <p:nvPr/>
        </p:nvSpPr>
        <p:spPr>
          <a:xfrm>
            <a:off x="7047865" y="2383790"/>
            <a:ext cx="202565" cy="76200"/>
          </a:xfrm>
          <a:prstGeom prst="rightArrow">
            <a:avLst>
              <a:gd name="adj1" fmla="val 33333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292850" y="2697480"/>
            <a:ext cx="891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 sz="900" b="1">
                <a:sym typeface="+mn-ea"/>
              </a:rPr>
              <a:t>Routing to</a:t>
            </a:r>
            <a:endParaRPr lang="en-US" altLang="zh-CN" sz="900" b="1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 sz="900" b="1">
                <a:sym typeface="+mn-ea"/>
              </a:rPr>
              <a:t>Best Experts</a:t>
            </a:r>
            <a:endParaRPr lang="en-US" altLang="zh-CN" sz="900" b="1">
              <a:sym typeface="+mn-ea"/>
            </a:endParaRPr>
          </a:p>
        </p:txBody>
      </p:sp>
      <p:pic>
        <p:nvPicPr>
          <p:cNvPr id="49" name="图片 48" descr="Gemini_Generated_Image_ecz6cvecz6cvecz6(1)(1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2700" y="763270"/>
            <a:ext cx="1186815" cy="1094105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7454265" y="1151255"/>
            <a:ext cx="1104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 sz="900" b="1">
                <a:sym typeface="+mn-ea"/>
              </a:rPr>
              <a:t>Food Detection &amp; Segmentation</a:t>
            </a:r>
            <a:endParaRPr lang="en-US" altLang="zh-CN" sz="900" b="1"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454265" y="2383790"/>
            <a:ext cx="1104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en-US" altLang="zh-CN" sz="900" b="1">
                <a:sym typeface="+mn-ea"/>
              </a:rPr>
              <a:t>Food Detection &amp; Segmentation</a:t>
            </a:r>
            <a:endParaRPr lang="en-US" altLang="zh-CN" sz="900" b="1"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933</Words>
  <Application>WPS 演示</Application>
  <PresentationFormat>宽屏</PresentationFormat>
  <Paragraphs>130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裴劭轩</cp:lastModifiedBy>
  <cp:revision>158</cp:revision>
  <dcterms:created xsi:type="dcterms:W3CDTF">2019-06-19T02:08:00Z</dcterms:created>
  <dcterms:modified xsi:type="dcterms:W3CDTF">2026-04-01T08:19:33Z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3A857BE1B7E7486E82EC99D26D74FC24_11</vt:lpwstr>
  </property>
</Properties>
</file>